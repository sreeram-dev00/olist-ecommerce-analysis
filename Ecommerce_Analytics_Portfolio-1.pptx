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114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90E0EF"/>
                </a:solidFill>
              </a:rPr>
              <a:t>DATA ANALYTICS PORTFOLIO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E-Commerce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Olist Store Analysis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" y="3063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0E0EF"/>
                </a:solidFill>
              </a:rPr>
              <a:t>Insights across Excel · Tableau · SQL · Power BI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777240"/>
            <a:ext cx="2286000" cy="868680"/>
          </a:xfrm>
          <a:prstGeom prst="rect">
            <a:avLst/>
          </a:prstGeom>
          <a:solidFill>
            <a:srgbClr val="1423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81381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119K+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Total Orders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2286000" cy="868680"/>
          </a:xfrm>
          <a:prstGeom prst="rect">
            <a:avLst/>
          </a:prstGeom>
          <a:solidFill>
            <a:srgbClr val="1423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6537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20.6M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Total Sales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2880360"/>
            <a:ext cx="2286000" cy="868680"/>
          </a:xfrm>
          <a:prstGeom prst="rect">
            <a:avLst/>
          </a:prstGeom>
          <a:solidFill>
            <a:srgbClr val="1423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9169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12.49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Avg Delivery Days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3931920"/>
            <a:ext cx="2286000" cy="868680"/>
          </a:xfrm>
          <a:prstGeom prst="rect">
            <a:avLst/>
          </a:prstGeom>
          <a:solidFill>
            <a:srgbClr val="1423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96849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66,343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5-Star Orders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Tools: Microsoft Excel  |  Tableau  |  SQL  |  Power 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  Microsoft Excel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863840" y="228600"/>
            <a:ext cx="1005840" cy="365760"/>
          </a:xfrm>
          <a:prstGeom prst="rect">
            <a:avLst/>
          </a:prstGeom>
          <a:solidFill>
            <a:srgbClr val="1A2E42"/>
          </a:solidFill>
          <a:ln>
            <a:solidFill>
              <a:srgbClr val="00B4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EXCEL</a:t>
            </a:r>
            <a:endParaRPr lang="en-US" sz="1100" dirty="0"/>
          </a:p>
        </p:txBody>
      </p:sp>
      <p:pic>
        <p:nvPicPr>
          <p:cNvPr id="6" name="Image 0" descr="/mnt/user-data/uploads/413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51560"/>
            <a:ext cx="530352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051560"/>
            <a:ext cx="3154680" cy="3108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143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Key Insights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97880" y="155448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EDF2F4"/>
                </a:solidFill>
              </a:rPr>
              <a:t>Monthly sales peak in May at 2.2M
</a:t>
            </a:r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EDF2F4"/>
                </a:solidFill>
              </a:rPr>
              <a:t>Weekday sales (16.1M) dominate weekends (4.5M)
</a:t>
            </a:r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EDF2F4"/>
                </a:solidFill>
              </a:rPr>
              <a:t>Top category: bed_bath_table at 1.8M
</a:t>
            </a:r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EDF2F4"/>
                </a:solidFill>
              </a:rPr>
              <a:t>77% payments via credit card
</a:t>
            </a:r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EDF2F4"/>
                </a:solidFill>
              </a:rPr>
              <a:t>Avg delivery: 12.49 days across all states
</a:t>
            </a:r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EDF2F4"/>
                </a:solidFill>
              </a:rPr>
              <a:t>SP state drives majority of total revenue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</a:rPr>
              <a:t>E-Commerce Olist Store Analysis  ·  Excel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 Tableau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589520" y="228600"/>
            <a:ext cx="1280160" cy="365760"/>
          </a:xfrm>
          <a:prstGeom prst="rect">
            <a:avLst/>
          </a:prstGeom>
          <a:solidFill>
            <a:srgbClr val="1A2E42"/>
          </a:solidFill>
          <a:ln>
            <a:solidFill>
              <a:srgbClr val="F4A26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TABLEAU</a:t>
            </a:r>
            <a:endParaRPr lang="en-US" sz="1100" dirty="0"/>
          </a:p>
        </p:txBody>
      </p:sp>
      <p:pic>
        <p:nvPicPr>
          <p:cNvPr id="6" name="Image 0" descr="/mnt/user-data/uploads/413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51560"/>
            <a:ext cx="530352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051560"/>
            <a:ext cx="3154680" cy="3108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143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Key Insights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97880" y="155448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EDF2F4"/>
                </a:solidFill>
              </a:rPr>
              <a:t>99,437 total orders; 20.58M total sales
</a:t>
            </a:r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EDF2F4"/>
                </a:solidFill>
              </a:rPr>
              <a:t>Avg review score: 4.02 / 5.0
</a:t>
            </a:r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EDF2F4"/>
                </a:solidFill>
              </a:rPr>
              <a:t>Higher review scores = fewer shipping days
</a:t>
            </a:r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EDF2F4"/>
                </a:solidFill>
              </a:rPr>
              <a:t>SP state far exceeds all others in sales
</a:t>
            </a:r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EDF2F4"/>
                </a:solidFill>
              </a:rPr>
              <a:t>Avg payment (172.74) &gt; Avg price (120.65)
</a:t>
            </a:r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EDF2F4"/>
                </a:solidFill>
              </a:rPr>
              <a:t>Credit card dominates (87,776 transactions)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</a:rPr>
              <a:t>E-Commerce Olist Store Analysis  ·  Tableau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  SQL Data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228600"/>
            <a:ext cx="822960" cy="365760"/>
          </a:xfrm>
          <a:prstGeom prst="rect">
            <a:avLst/>
          </a:prstGeom>
          <a:solidFill>
            <a:srgbClr val="1A2E42"/>
          </a:solidFill>
          <a:ln>
            <a:solidFill>
              <a:srgbClr val="2EC4B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SQL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📄 ecommerce.sql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F2F4"/>
                </a:solidFill>
              </a:rPr>
              <a:t>Olist e-commerce database schema, order pipeline, customer &amp; seller tables, payment and review data.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062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📄 Adventure_Works.sql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F2F4"/>
                </a:solidFill>
              </a:rPr>
              <a:t>AdventureWorks sales database with products, employees, territories, and financial transactions.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2743200" cy="2560320"/>
          </a:xfrm>
          <a:prstGeom prst="rect">
            <a:avLst/>
          </a:prstGeom>
          <a:solidFill>
            <a:srgbClr val="F8FBF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76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Sales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633472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Monthly &amp; yearly revenue trends
</a:t>
            </a:r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Payment method breakdown
</a:t>
            </a:r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Top revenue categories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148840"/>
            <a:ext cx="2743200" cy="2560320"/>
          </a:xfrm>
          <a:prstGeom prst="rect">
            <a:avLst/>
          </a:prstGeom>
          <a:solidFill>
            <a:srgbClr val="F8FBF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2148840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176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Customer Insights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633472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Unique customer segmentation
</a:t>
            </a:r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Geographic distribution
</a:t>
            </a:r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Repeat purchase rates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148840"/>
            <a:ext cx="2743200" cy="2560320"/>
          </a:xfrm>
          <a:prstGeom prst="rect">
            <a:avLst/>
          </a:prstGeom>
          <a:solidFill>
            <a:srgbClr val="F8FBF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148840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176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Delivery &amp; Reviews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633472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Avg shipping days by product
</a:t>
            </a:r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Review score correlations
</a:t>
            </a:r>
            <a:pPr algn="l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Seller performance metrics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</a:rPr>
              <a:t>E-Commerce Olist Store Analysis  ·  SQL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04  Power BI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406640" y="228600"/>
            <a:ext cx="1463040" cy="365760"/>
          </a:xfrm>
          <a:prstGeom prst="rect">
            <a:avLst/>
          </a:prstGeom>
          <a:solidFill>
            <a:srgbClr val="1A2E42"/>
          </a:solidFill>
          <a:ln>
            <a:solidFill>
              <a:srgbClr val="F2C8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811"/>
                </a:solidFill>
              </a:rPr>
              <a:t>POWER BI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420624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875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Page 1: Store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417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D99AE"/>
                </a:solidFill>
              </a:rPr>
              <a:t>KPIs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67335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●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96.1K unique customers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●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3,089 sellers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●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15.82M total sales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●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3.34M total profit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●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12.48M total price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3200400"/>
            <a:ext cx="3877056" cy="18288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2552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D99AE"/>
                </a:solidFill>
              </a:rPr>
              <a:t>Charts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5204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→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WeekDay/WeekEnd payment donut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→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Day-wise total sales line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→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Month-wise price &amp; sales bar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→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Avg payment – Sao Paulo city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20624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960120"/>
            <a:ext cx="420624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9875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Page 2: Customer &amp; Product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1417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D99AE"/>
                </a:solidFill>
              </a:rPr>
              <a:t>KPIs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4608" y="167335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●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Top city: Sao Paulo (2.2M)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●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Top product: beleza_saude (1.43M)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●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Credit card: 76K customers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●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5-star orders: 22%+ of total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64608" y="3200400"/>
            <a:ext cx="3877056" cy="18288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2552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D99AE"/>
                </a:solidFill>
              </a:rPr>
              <a:t>Charts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4608" y="35204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→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Sales by top 10 product category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→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Sales by customer state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→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Orders by payment type
</a:t>
            </a:r>
            <a:pPr algn="l" indent="0" marL="0">
              <a:buNone/>
            </a:pPr>
            <a:r>
              <a:rPr lang="en-US" sz="1050" dirty="0">
                <a:solidFill>
                  <a:srgbClr val="F2C811"/>
                </a:solidFill>
              </a:rPr>
              <a:t>→ </a:t>
            </a:r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Review score segmentation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</a:rPr>
              <a:t>E-Commerce Olist Store Analysis  ·  Power BI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B4D8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the Data Tells 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114800" cy="1508760"/>
          </a:xfrm>
          <a:prstGeom prst="rect">
            <a:avLst/>
          </a:prstGeom>
          <a:solidFill>
            <a:srgbClr val="0D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📈  Sales Momentum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Consistent growth from 2016–2018 with peak months in May &amp; August. Weekday transactions drive 77% of all revenue.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114800" cy="1508760"/>
          </a:xfrm>
          <a:prstGeom prst="rect">
            <a:avLst/>
          </a:prstGeom>
          <a:solidFill>
            <a:srgbClr val="0D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🏆  Top Performers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92024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Bed &amp; bath, health &amp; beauty, and computers lead product revenue. São Paulo state alone contributes ~35% of national sales.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3154680"/>
            <a:ext cx="4114800" cy="1508760"/>
          </a:xfrm>
          <a:prstGeom prst="rect">
            <a:avLst/>
          </a:prstGeom>
          <a:solidFill>
            <a:srgbClr val="0D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💳  Payment Behavior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Credit card is dominant (77%+ of transactions). Average payment value exceeds average product price, indicating installment purchases.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3154680"/>
            <a:ext cx="4114800" cy="1508760"/>
          </a:xfrm>
          <a:prstGeom prst="rect">
            <a:avLst/>
          </a:prstGeom>
          <a:solidFill>
            <a:srgbClr val="0D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246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⭐  Customer Satisfaction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6118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66K+ five-star reviews. Higher satisfaction correlates directly with faster delivery — avg 10.6 days for 5-star vs 19.5 for 1-star.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D99AE"/>
                </a:solidFill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Data Analytics Portfolio</dc:title>
  <dc:subject>PptxGenJS Presentation</dc:subject>
  <dc:creator>PptxGenJS</dc:creator>
  <cp:lastModifiedBy>PptxGenJS</cp:lastModifiedBy>
  <cp:revision>1</cp:revision>
  <dcterms:created xsi:type="dcterms:W3CDTF">2026-05-19T12:44:43Z</dcterms:created>
  <dcterms:modified xsi:type="dcterms:W3CDTF">2026-05-19T12:44:43Z</dcterms:modified>
</cp:coreProperties>
</file>